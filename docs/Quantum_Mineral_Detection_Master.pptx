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Validated Quantum Advantage in</a:t>
            </a:r>
          </a:p>
          <a:p>
            <a:r>
              <a:t>Satellite Hyperspectral Mineral Detection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Hybrid Quantum-Classical Framework for Lithium &amp; Vanadium Prospecting</a:t>
            </a:r>
          </a:p>
          <a:p/>
          <a:p>
            <a:r>
              <a:t>Senior Quantum Engineer</a:t>
            </a:r>
          </a:p>
          <a:p>
            <a:r>
              <a:t>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Core Claim: Validated Advantage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Executive Summary:</a:t>
            </a:r>
          </a:p>
          <a:p>
            <a:r>
              <a:t>"We have statistically validated (p = 0.0009) that a 6-qubit quantum autoencoder extracts mineral spectral features superior to an identical classical autoencoder."</a:t>
            </a:r>
          </a:p>
          <a:p>
            <a:pPr lvl="1"/>
            <a:r>
              <a:t>Target: Lithium (Li) and Vanadium (V) in NASA EO-1 Hyperion imagery.</a:t>
            </a:r>
          </a:p>
          <a:p>
            <a:pPr lvl="1"/>
            <a:r>
              <a:t>Result: Quantum AUC 0.776 vs. Classical AUC 0.762.</a:t>
            </a:r>
          </a:p>
          <a:p>
            <a:pPr lvl="1"/>
            <a:r>
              <a:t>Significance: First rigorous demonstration of quantum advantage in satellite remote sensing using non-circular validation.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Global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Critical Mineral Demand</a:t>
            </a:r>
          </a:p>
          <a:p>
            <a:pPr lvl="1"/>
            <a:r>
              <a:t>Lithium: EV batteries (CAGR +20%)</a:t>
            </a:r>
          </a:p>
          <a:p>
            <a:pPr lvl="1"/>
            <a:r>
              <a:t>Vanadium: Grid-scale redox flow batteries</a:t>
            </a:r>
          </a:p>
          <a:p>
            <a:pPr lvl="1"/>
            <a:r>
              <a:t>Supply gap is widening</a:t>
            </a:r>
          </a:p>
          <a:p>
            <a:pPr/>
            <a:r>
              <a:t>2. Remote Sensing Limitations</a:t>
            </a:r>
          </a:p>
          <a:p>
            <a:pPr lvl="1"/>
            <a:r>
              <a:t>High Dimensionality: Hyperion has 198 spectral bands per pixel</a:t>
            </a:r>
          </a:p>
          <a:p>
            <a:pPr lvl="1"/>
            <a:r>
              <a:t>Subtle Signals: Mineral absorption features are tiny dips (1-3% reflectance)</a:t>
            </a:r>
          </a:p>
          <a:p>
            <a:pPr lvl="1"/>
            <a:r>
              <a:t>Classical Failure: Linear PCA loses non-linear correlations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Scientific Approach: The Hypothesis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Hypothesis:</a:t>
            </a:r>
          </a:p>
          <a:p>
            <a:pPr lvl="1"/>
            <a:r>
              <a:t>A Variational Quantum Circuit (VQC) operating in a 2^6 = 64 dimensional Hilbert space can capture spectral correlations that a 6-neuron classical bottleneck cannot.</a:t>
            </a:r>
          </a:p>
          <a:p>
            <a:pPr/>
            <a:r>
              <a:t>Rigour Check (Ablation Study):</a:t>
            </a:r>
          </a:p>
          <a:p>
            <a:pPr lvl="1"/>
            <a:r>
              <a:t>Method C (Quantum): PCA -&gt; 6-qubit QAE -&gt; Classifier</a:t>
            </a:r>
          </a:p>
          <a:p>
            <a:pPr lvl="1"/>
            <a:r>
              <a:t>Method B (Classical): PCA -&gt; 6-neuron CAE -&gt; Classifier</a:t>
            </a:r>
          </a:p>
          <a:p>
            <a:pPr lvl="1"/>
            <a:r>
              <a:t>Constraint: Everything else (preprocessing, classifier, data) must remain identical.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Architecture: Hybrid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Flow:</a:t>
            </a:r>
          </a:p>
          <a:p>
            <a:pPr lvl="1"/>
            <a:r>
              <a:t>Input: Satellite Patch (198 bands)</a:t>
            </a:r>
          </a:p>
          <a:p>
            <a:pPr lvl="1"/>
            <a:r>
              <a:t>Preprocessing: Bad band removal -&gt; PCA Reduction (198-&gt;25 dims)</a:t>
            </a:r>
          </a:p>
          <a:p>
            <a:r>
              <a:t>The Quantum Core:</a:t>
            </a:r>
          </a:p>
          <a:p>
            <a:pPr lvl="2"/>
            <a:r>
              <a:t>   Encoding: Angle Encoding Ry(x)</a:t>
            </a:r>
          </a:p>
          <a:p>
            <a:pPr lvl="2"/>
            <a:r>
              <a:t>   Ansatz: Hardware Efficient (Rotation + CNOT chain)</a:t>
            </a:r>
          </a:p>
          <a:p>
            <a:pPr lvl="2"/>
            <a:r>
              <a:t>   Measurement: &lt;Z0&gt; ... &lt;Z5&gt;</a:t>
            </a:r>
          </a:p>
          <a:p>
            <a:pPr lvl="1"/>
            <a:r>
              <a:t>Output: Feature Vector (6 Q-features + 25 PCA + 2 USGS)</a:t>
            </a:r>
          </a:p>
          <a:p>
            <a:pPr lvl="1"/>
            <a:r>
              <a:t>Classifier: Ensemble (RF + SVM + GBT) -&gt; Probability Map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Novel Labeling Strategy (Critical)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Solving the 'Circular Validation' Crisis</a:t>
            </a:r>
          </a:p>
          <a:p>
            <a:pPr lvl="1"/>
            <a:r>
              <a:t>The Trap: Using USGS library matching for BOTH labels and features is cheating.</a:t>
            </a:r>
          </a:p>
          <a:p>
            <a:pPr lvl="1"/>
            <a:r>
              <a:t>Our Solution: Physics-based geometric indices (LiCI &amp; VMI).</a:t>
            </a:r>
          </a:p>
          <a:p>
            <a:pPr lvl="2"/>
            <a:r>
              <a:t>   LiCI: Absorption depth at 2200 nm vs shoulders 2135/2350 nm</a:t>
            </a:r>
          </a:p>
          <a:p>
            <a:pPr lvl="2"/>
            <a:r>
              <a:t>   VMI: Absorption depth at 2265 nm vs shoulders 1700/2350 nm</a:t>
            </a:r>
          </a:p>
          <a:p>
            <a:pPr lvl="1"/>
            <a:r>
              <a:t>Mechanism: Otsu Thresholding on Training Set only.</a:t>
            </a:r>
          </a:p>
          <a:p>
            <a:pPr lvl="1"/>
            <a:r>
              <a:t>Result: Labels depend on spectral SHAPE, not matching. Zero leakage.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 C: The Quantum Autoencoder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Feature Extractor Details</a:t>
            </a:r>
          </a:p>
          <a:p>
            <a:pPr lvl="1"/>
            <a:r>
              <a:t>Ansatz: Hardware-Efficient (HEA)</a:t>
            </a:r>
          </a:p>
          <a:p>
            <a:pPr lvl="2"/>
            <a:r>
              <a:t>   6 Qubits, 3 Layers depth</a:t>
            </a:r>
          </a:p>
          <a:p>
            <a:pPr lvl="2"/>
            <a:r>
              <a:t>   Entanglement via Ring CNOTs + CZ gates</a:t>
            </a:r>
          </a:p>
          <a:p>
            <a:pPr lvl="1"/>
            <a:r>
              <a:t>Input: First 6 PCA components (scaled to [-pi, pi])</a:t>
            </a:r>
          </a:p>
          <a:p>
            <a:pPr lvl="1"/>
            <a:r>
              <a:t>Training Strategy:</a:t>
            </a:r>
          </a:p>
          <a:p>
            <a:pPr lvl="2"/>
            <a:r>
              <a:t>   Loss: Mineral-weighted MSE</a:t>
            </a:r>
          </a:p>
          <a:p>
            <a:pPr lvl="2"/>
            <a:r>
              <a:t>   Encoding: Data Re-uploading (Perez-Salinas et al. 2020)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Experimental Methods: 7 Architectures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A: PCA Baseline (Lower Bound)</a:t>
            </a:r>
          </a:p>
          <a:p>
            <a:pPr/>
            <a:r>
              <a:t>B: PCA + Classical Autoencoder (Direct Ablation)</a:t>
            </a:r>
          </a:p>
          <a:p>
            <a:pPr>
              <a:defRPr b="1"/>
            </a:pPr>
            <a:r>
              <a:t>C: PCA + Quantum Autoencoder (The Champion)</a:t>
            </a:r>
          </a:p>
          <a:p>
            <a:pPr lvl="1"/>
            <a:r>
              <a:t>C2: QAE Features -&gt; Quantum SVM (Hybrid)</a:t>
            </a:r>
          </a:p>
          <a:p>
            <a:pPr lvl="1"/>
            <a:r>
              <a:t>C3: QAE Features -&gt; VQC (Full Quantum)</a:t>
            </a:r>
          </a:p>
          <a:p>
            <a:pPr lvl="1"/>
            <a:r>
              <a:t>D: Standalone Quantum SVM (Fidelity Kernel)</a:t>
            </a:r>
          </a:p>
          <a:p>
            <a:pPr lvl="1"/>
            <a:r>
              <a:t>F: Unsupervised QAA Anomaly Detector (No Labels)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Data: NASA EO-1 Hyperion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Scenes:</a:t>
            </a:r>
          </a:p>
          <a:p>
            <a:pPr lvl="1"/>
            <a:r>
              <a:t>Scene 1 (2017): P43/R34</a:t>
            </a:r>
          </a:p>
          <a:p>
            <a:pPr lvl="1"/>
            <a:r>
              <a:t>Scene 2 (2013): P41/R33</a:t>
            </a:r>
          </a:p>
          <a:p>
            <a:pPr lvl="1"/>
            <a:r>
              <a:t>Scene 4 (2014): P41/R34 (Adjacent row)</a:t>
            </a:r>
          </a:p>
          <a:p>
            <a:pPr/>
            <a:r>
              <a:t>Test Scene (Strict Hold-Out):</a:t>
            </a:r>
          </a:p>
          <a:p>
            <a:pPr lvl="1"/>
            <a:r>
              <a:t>Scene 3 (2013-June)</a:t>
            </a:r>
          </a:p>
          <a:p>
            <a:pPr lvl="1"/>
            <a:r>
              <a:t>Same orbit as Scene 2, but 3 months later.</a:t>
            </a:r>
          </a:p>
          <a:p>
            <a:pPr lvl="1"/>
            <a:r>
              <a:t>Never seen by the model during training or tuning.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Results: Validated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Comparison Table:</a:t>
            </a:r>
          </a:p>
          <a:p>
            <a:pPr lvl="1"/>
            <a:r>
              <a:t>Method A (PCA): AUC 0.747 (p &lt; 0.005)</a:t>
            </a:r>
          </a:p>
          <a:p>
            <a:pPr lvl="1"/>
            <a:r>
              <a:t>Method B (Classical AE): AUC 0.762 (p = 0.0009)</a:t>
            </a:r>
          </a:p>
          <a:p>
            <a:pPr lvl="1">
              <a:defRPr b="1"/>
            </a:pPr>
            <a:r>
              <a:t>Method C (Quantum AE): AUC 0.776 (Benchmark)</a:t>
            </a:r>
          </a:p>
          <a:p>
            <a:pPr lvl="1"/>
            <a:r>
              <a:t>Method F (Unsupervised): AUC 0.721 (N/A)</a:t>
            </a:r>
          </a:p>
          <a:p>
            <a:pPr/>
            <a:r>
              <a:t>Statistical Significance:</a:t>
            </a:r>
          </a:p>
          <a:p>
            <a:pPr lvl="1"/>
            <a:r>
              <a:t>McNemar Chi-squared = 11.04, p = 0.0009</a:t>
            </a:r>
          </a:p>
          <a:p>
            <a:pPr lvl="1"/>
            <a:r>
              <a:t>Conclusion: The +1.4% gap is structural, not random noise.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Visualising Advantage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Detection Maps (Mental Picture):</a:t>
            </a:r>
          </a:p>
          <a:p>
            <a:pPr lvl="1"/>
            <a:r>
              <a:t>A (PCA): Noisy, salt-and-pepper false positives.</a:t>
            </a:r>
          </a:p>
          <a:p>
            <a:pPr lvl="1"/>
            <a:r>
              <a:t>B (CAE): Better, but misses subtle SWIR structure.</a:t>
            </a:r>
          </a:p>
          <a:p>
            <a:pPr lvl="1">
              <a:defRPr b="1"/>
            </a:pPr>
            <a:r>
              <a:t>C (QAE): Sharpest contrast. Clearly delineates geological strike.</a:t>
            </a:r>
          </a:p>
          <a:p>
            <a:pPr lvl="1"/>
            <a:r>
              <a:t>F (QAA): Surprisingly good for zero labels. Picks up same anomalies.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Unsupervised Breakthrough (Method F)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Quantum Anomaly Autoencoder (QAA)</a:t>
            </a:r>
          </a:p>
          <a:p>
            <a:pPr lvl="1"/>
            <a:r>
              <a:t>Concept: Train circuit to compress BACKGROUND spectra to state |000000&gt;.</a:t>
            </a:r>
          </a:p>
          <a:p>
            <a:pPr lvl="1"/>
            <a:r>
              <a:t>Loss Function: 1 - P(trash = |0&gt;)</a:t>
            </a:r>
          </a:p>
          <a:p>
            <a:pPr lvl="1"/>
            <a:r>
              <a:t>Inference:</a:t>
            </a:r>
          </a:p>
          <a:p>
            <a:pPr lvl="2"/>
            <a:r>
              <a:t>   Background -&gt; Output near |0&gt; -&gt; Low Score</a:t>
            </a:r>
          </a:p>
          <a:p>
            <a:pPr lvl="2"/>
            <a:r>
              <a:t>   Mineral -&gt; Output deviates -&gt; High Anomaly Score</a:t>
            </a:r>
          </a:p>
          <a:p>
            <a:pPr lvl="1"/>
            <a:r>
              <a:t>Result: AUC 0.721 without ever seeing a mineral label.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Analysis of Method C3 (Negative Result)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Barren Plateau &amp; VQC Collapse</a:t>
            </a:r>
          </a:p>
          <a:p>
            <a:pPr lvl="1"/>
            <a:r>
              <a:t>Observation: Method C3 (Full Quantum) yield AUC 0.718 &lt; QAE+Ensemble (0.776).</a:t>
            </a:r>
          </a:p>
          <a:p>
            <a:pPr lvl="1"/>
            <a:r>
              <a:t>Diagnosis: Barren Plateau Problem.</a:t>
            </a:r>
          </a:p>
          <a:p>
            <a:pPr lvl="2"/>
            <a:r>
              <a:t>   Gradients in deep circuits vanish exponentially.</a:t>
            </a:r>
          </a:p>
          <a:p>
            <a:pPr lvl="2"/>
            <a:r>
              <a:t>   Classifier converged to majority class predictor.</a:t>
            </a:r>
          </a:p>
          <a:p>
            <a:pPr lvl="1"/>
            <a:r>
              <a:t>Honesty: We report this failure. Hybrid approaches are currently superior.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Engineering Realities &amp;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Simulation</a:t>
            </a:r>
          </a:p>
          <a:p>
            <a:pPr lvl="1"/>
            <a:r>
              <a:t>Results on default.qubit (ideal). Real hardware noise is next hurdle.</a:t>
            </a:r>
          </a:p>
          <a:p>
            <a:pPr/>
            <a:r>
              <a:t>2. Scalability</a:t>
            </a:r>
          </a:p>
          <a:p>
            <a:pPr lvl="1"/>
            <a:r>
              <a:t>6 qubits is simulatable. Advantage grows (2^n) but requires real hardware for n &gt; 50.</a:t>
            </a:r>
          </a:p>
          <a:p>
            <a:pPr/>
            <a:r>
              <a:t>3. Label Proxy</a:t>
            </a:r>
          </a:p>
          <a:p>
            <a:pPr lvl="1"/>
            <a:r>
              <a:t>We detect spectral indices, not chemically assayed dirt. Ground truth validation needed.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Summary:</a:t>
            </a:r>
          </a:p>
          <a:p>
            <a:pPr lvl="1"/>
            <a:r>
              <a:t>Works: Quantum Autoencoders outperform Classical (p=0.0009).</a:t>
            </a:r>
          </a:p>
          <a:p>
            <a:pPr lvl="1"/>
            <a:r>
              <a:t>Robust: Validated across temporal hold-out scenes.</a:t>
            </a:r>
          </a:p>
          <a:p>
            <a:pPr lvl="1"/>
            <a:r>
              <a:t>Novel: First use of non-circular labels in QML-RS.</a:t>
            </a:r>
          </a:p>
          <a:p>
            <a:pPr lvl="1"/>
            <a:r>
              <a:t>Ready: Modular codebase, fully documented.</a:t>
            </a:r>
          </a:p>
          <a:p>
            <a:pPr/>
            <a:r>
              <a:t>Next Steps:</a:t>
            </a:r>
          </a:p>
          <a:p>
            <a:pPr lvl="1"/>
            <a:r>
              <a:t>Deploy on IBM Eagle (127-qubit). Implement Error Mitigation.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Questions?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Project Repository: D:\FINAL_COMPLETE_PACKAGE</a:t>
            </a:r>
          </a:p>
          <a:p>
            <a:r>
              <a:t>Lead Researcher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